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1" r:id="rId101"/>
    <p:sldId id="262" r:id="rId102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InstrumentSans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InstrumentSans-italic.fntdata"/><Relationship Id="rId12" Type="http://schemas.openxmlformats.org/officeDocument/2006/relationships/font" Target="fonts/Instrumen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regular.fntdata"/><Relationship Id="rId14" Type="http://schemas.openxmlformats.org/officeDocument/2006/relationships/font" Target="fonts/InstrumentSans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1" Type="http://schemas.openxmlformats.org/officeDocument/2006/relationships/slide" Target="slides/slide6.xml"/><Relationship Id="rId10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201" Type="http://schemas.openxmlformats.org/officeDocument/2006/relationships/image" Target="../media/bw-S1-term-policy-bypass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201" Type="http://schemas.openxmlformats.org/officeDocument/2006/relationships/image" Target="../media/bw-S4-report-ttl-archival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201" Type="http://schemas.openxmlformats.org/officeDocument/2006/relationships/image" Target="../media/bw-S7-repro-tes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201" Type="http://schemas.openxmlformats.org/officeDocument/2006/relationships/image" Target="../media/bw-S8-repo-qr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01" Type="http://schemas.openxmlformats.org/officeDocument/2006/relationships/image" Target="../media/bw-S3-report-policy-bypass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01" Type="http://schemas.openxmlformats.org/officeDocument/2006/relationships/image" Target="../media/bw-S5-stellar-expert-tx3.png"/><Relationship Id="rId202" Type="http://schemas.openxmlformats.org/officeDocument/2006/relationships/image" Target="../media/bw-S6-github-merged-prs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07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42062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INVARIANT TESTING FOR SOROBAN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BREAK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WATER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07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06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Breakwater searches for the call sequence that breaks your Soroban invariants.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Random multi-step sequences run against a local Soroban Env; every invariant is checked after every step.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failure is shrunk to its minimal steps and exported as a Rust regression test.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Two attack packs for Stellar-specific risk: smart-account policies and TTL state archival.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Single-call tests prove each payment is fine. Only a sequence shows whether the account is.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24" name="Screenshot S1-term-policy-bypass.png" descr="S1-term-policy-bypass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326880" y="4952071"/>
            <a:ext cx="8046720" cy="2485979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07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06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Soroban has static analysis, AI review and formal verification, but no reusable stateful fuzzing.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wallets paying over x402 / MPP rely on smart-account policies; a policy that holds for one call may fail for five.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State archival: after mainnet moved to Protocol 23, archived entries were restored with stale values (478 entries affected).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every Soroban team shipping custom accounts or long-lived storage; a suite runs as cargo test.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bugs that cost money here only appear across many transactions and long gaps.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46" name="Screenshot S4-report-ttl-archival.png" descr="S4-report-ttl-archival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326880" y="4241409"/>
            <a:ext cx="8046720" cy="3907302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07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FINDINGS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06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Declare, generate, check, shrink and export: one cargo test.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proptest-state-machine generates seeded sequences; each case restores a ledger snapshot instead of redeploying.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auth mode signs every step with Ed25519, so OpenZeppelin's __check_auth and policies really run.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TTL is read from ledger entries without touching them, so probing never auto-restores an archived entry.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finding under real authorization is a real bypass, not a mocking artifact.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68" name="Workflow 168"/>
          <p:cNvSpPr/>
          <p:nvPr/>
        </p:nvSpPr>
        <p:spPr>
          <a:xfrm>
            <a:off x="9322308" y="3794760"/>
            <a:ext cx="1691640" cy="105156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txBody>
          <a:bodyPr anchor="ctr" lIns="45720" rIns="45720" tIns="0" bIns="0" wrap="square">
            <a:noAutofit/>
          </a:bodyPr>
          <a:lstStyle/>
          <a:p>
            <a:pPr algn="ctr">
              <a:buNone/>
            </a:pPr>
            <a:r>
              <a:rPr lang="en-US" b="1" sz="1500">
                <a:solidFill>
                  <a:srgbClr val="FDDA24"/>
                </a:solidFill>
                <a:latin typeface="JetBrains Mono"/>
              </a:rPr>
              <a:t>DECLARE</a:t>
            </a:r>
          </a:p>
          <a:p>
            <a:pPr algn="ctr">
              <a:buNone/>
            </a:pPr>
            <a:r>
              <a:rPr lang="en-US" sz="1050">
                <a:solidFill>
                  <a:srgbClr val="FDDA24"/>
                </a:solidFill>
                <a:latin typeface="Instrument Sans"/>
              </a:rPr>
              <a:t>actors · handlers · invariants</a:t>
            </a:r>
          </a:p>
        </p:txBody>
      </p:sp>
      <p:sp xmlns:p="http://schemas.openxmlformats.org/presentationml/2006/main" xmlns:a="http://schemas.openxmlformats.org/drawingml/2006/main">
        <p:nvSpPr>
          <p:cNvPr id="169" name="Workflow 169"/>
          <p:cNvSpPr/>
          <p:nvPr/>
        </p:nvSpPr>
        <p:spPr>
          <a:xfrm>
            <a:off x="11077956" y="4174236"/>
            <a:ext cx="301752" cy="292608"/>
          </a:xfrm>
          <a:prstGeom prst="rightArrow">
            <a:avLst/>
          </a:prstGeom>
          <a:solidFill>
            <a:srgbClr val="FDDA24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0" name="Workflow 170"/>
          <p:cNvSpPr/>
          <p:nvPr/>
        </p:nvSpPr>
        <p:spPr>
          <a:xfrm>
            <a:off x="11443716" y="3794760"/>
            <a:ext cx="1691640" cy="105156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txBody>
          <a:bodyPr anchor="ctr" lIns="45720" rIns="45720" tIns="0" bIns="0" wrap="square">
            <a:noAutofit/>
          </a:bodyPr>
          <a:lstStyle/>
          <a:p>
            <a:pPr algn="ctr">
              <a:buNone/>
            </a:pPr>
            <a:r>
              <a:rPr lang="en-US" b="1" sz="1500">
                <a:solidFill>
                  <a:srgbClr val="FDDA24"/>
                </a:solidFill>
                <a:latin typeface="JetBrains Mono"/>
              </a:rPr>
              <a:t>GENERATE</a:t>
            </a:r>
          </a:p>
          <a:p>
            <a:pPr algn="ctr">
              <a:buNone/>
            </a:pPr>
            <a:r>
              <a:rPr lang="en-US" sz="1050">
                <a:solidFill>
                  <a:srgbClr val="FDDA24"/>
                </a:solidFill>
                <a:latin typeface="Instrument Sans"/>
              </a:rPr>
              <a:t>seeded sequences</a:t>
            </a:r>
          </a:p>
        </p:txBody>
      </p:sp>
      <p:sp xmlns:p="http://schemas.openxmlformats.org/presentationml/2006/main" xmlns:a="http://schemas.openxmlformats.org/drawingml/2006/main">
        <p:nvSpPr>
          <p:cNvPr id="171" name="Workflow 171"/>
          <p:cNvSpPr/>
          <p:nvPr/>
        </p:nvSpPr>
        <p:spPr>
          <a:xfrm>
            <a:off x="13199364" y="4174236"/>
            <a:ext cx="301752" cy="292608"/>
          </a:xfrm>
          <a:prstGeom prst="rightArrow">
            <a:avLst/>
          </a:prstGeom>
          <a:solidFill>
            <a:srgbClr val="FDDA24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2" name="Workflow 172"/>
          <p:cNvSpPr/>
          <p:nvPr/>
        </p:nvSpPr>
        <p:spPr>
          <a:xfrm>
            <a:off x="13565124" y="3794760"/>
            <a:ext cx="1691640" cy="105156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txBody>
          <a:bodyPr anchor="ctr" lIns="45720" rIns="45720" tIns="0" bIns="0" wrap="square">
            <a:noAutofit/>
          </a:bodyPr>
          <a:lstStyle/>
          <a:p>
            <a:pPr algn="ctr">
              <a:buNone/>
            </a:pPr>
            <a:r>
              <a:rPr lang="en-US" b="1" sz="1500">
                <a:solidFill>
                  <a:srgbClr val="FDDA24"/>
                </a:solidFill>
                <a:latin typeface="JetBrains Mono"/>
              </a:rPr>
              <a:t>CHECK</a:t>
            </a:r>
          </a:p>
          <a:p>
            <a:pPr algn="ctr">
              <a:buNone/>
            </a:pPr>
            <a:r>
              <a:rPr lang="en-US" sz="1050">
                <a:solidFill>
                  <a:srgbClr val="FDDA24"/>
                </a:solidFill>
                <a:latin typeface="Instrument Sans"/>
              </a:rPr>
              <a:t>every invariant, every step</a:t>
            </a:r>
          </a:p>
        </p:txBody>
      </p:sp>
      <p:sp xmlns:p="http://schemas.openxmlformats.org/presentationml/2006/main" xmlns:a="http://schemas.openxmlformats.org/drawingml/2006/main">
        <p:nvSpPr>
          <p:cNvPr id="173" name="Workflow 173"/>
          <p:cNvSpPr/>
          <p:nvPr/>
        </p:nvSpPr>
        <p:spPr>
          <a:xfrm>
            <a:off x="15320772" y="4174236"/>
            <a:ext cx="301752" cy="292608"/>
          </a:xfrm>
          <a:prstGeom prst="rightArrow">
            <a:avLst/>
          </a:prstGeom>
          <a:solidFill>
            <a:srgbClr val="FDDA24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4" name="Workflow 174"/>
          <p:cNvSpPr/>
          <p:nvPr/>
        </p:nvSpPr>
        <p:spPr>
          <a:xfrm>
            <a:off x="15686532" y="3794760"/>
            <a:ext cx="1691640" cy="105156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txBody>
          <a:bodyPr anchor="ctr" lIns="45720" rIns="45720" tIns="0" bIns="0" wrap="square">
            <a:noAutofit/>
          </a:bodyPr>
          <a:lstStyle/>
          <a:p>
            <a:pPr algn="ctr">
              <a:buNone/>
            </a:pPr>
            <a:r>
              <a:rPr lang="en-US" b="1" sz="1500">
                <a:solidFill>
                  <a:srgbClr val="FDDA24"/>
                </a:solidFill>
                <a:latin typeface="JetBrains Mono"/>
              </a:rPr>
              <a:t>SHRINK</a:t>
            </a:r>
          </a:p>
          <a:p>
            <a:pPr algn="ctr">
              <a:buNone/>
            </a:pPr>
            <a:r>
              <a:rPr lang="en-US" sz="1050">
                <a:solidFill>
                  <a:srgbClr val="FDDA24"/>
                </a:solidFill>
                <a:latin typeface="Instrument Sans"/>
              </a:rPr>
              <a:t>minimal repro → .rs test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75" name="Screenshot S7-repro-test.png" descr="S7-repro-test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10681252" y="5120640"/>
            <a:ext cx="5337976" cy="3474720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07 / 07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06 / 06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Hannes Gao · Belvast Innovation · Karlsruhe, Germany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Solo builder: framework design, Rust implementation, attack packs, Testnet replay.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Repository: github.com/Belvast-Innovation/Breakwater (Apache-2.0).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rule-rotation probe, malicious keep-alive, restoration-cost CI gate.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Everything shown was built during the event; the commit history is the record.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90" name="Screenshot S8-repo-qr.png" descr="S8-repo-qr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11704320" y="3886200"/>
            <a:ext cx="3291840" cy="3291840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  <p:sp xmlns:p="http://schemas.openxmlformats.org/presentationml/2006/main" xmlns:a="http://schemas.openxmlformats.org/drawingml/2006/main">
        <p:nvSpPr>
          <p:cNvPr id="191" name="Workflow 191"/>
          <p:cNvSpPr/>
          <p:nvPr/>
        </p:nvSpPr>
        <p:spPr>
          <a:xfrm>
            <a:off x="9326880" y="7360920"/>
            <a:ext cx="8046720" cy="4572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 anchor="ctr" lIns="45720" rIns="45720" tIns="0" bIns="0" wrap="square">
            <a:noAutofit/>
          </a:bodyPr>
          <a:lstStyle/>
          <a:p>
            <a:pPr algn="ctr">
              <a:buNone/>
            </a:pPr>
            <a:r>
              <a:rPr lang="en-US" b="1" sz="1600">
                <a:solidFill>
                  <a:srgbClr val="0F0F0F"/>
                </a:solidFill>
                <a:latin typeface="JetBrains Mono"/>
              </a:rPr>
              <a:t>github.com/Belvast-Innovation/Breakwater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07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TESTNET &amp; PROGRESS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06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FINDINGS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policy code is correct; the configuration is not. Every payment passes alone; the sequence does not.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Daily cap set to 1 728 ledgers, not 17 280: 49 → 49 → 49 USDC (+1 / +10 / +1718 ledgers) is 147 in 24 h against a 100 cap; up to 10× per day.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Stream that never extends TTL: “stream 0 is archived with 275 days left to run”.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Unauthenticated bump_ttl keeps an entry alive 1.3 days past its stream; one call restores 5 entries against a budget of 3.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Breakwater found the three-step sequence that no single-call test can see.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68" name="Screenshot S3-report-policy-bypass.png" descr="S3-report-policy-bypass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10097716" y="3794760"/>
            <a:ext cx="6505048" cy="4800600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06 / 07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05 / 06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TESTNET &amp; PROGRESS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79476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shrunk bypass replayed on Stellar Testnet through the real OpenZeppelin account.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80060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agent-signed payments: 147 USDC in 3 537 ledgers (about 4.9 hours), all accepted by the policies.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contracts and five transactions on Testnet, each linked from the README.</a:t>
            </a:r>
            <a:endParaRPr/>
          </a:p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0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Built during the event: 11 commits on main, 10 merged PRs, 40 tests, CI on every PR.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269480"/>
            <a:ext cx="7863840" cy="914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0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number in this deck comes from a command anyone can rerun.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68" name="Screenshot S5-stellar-expert-tx3.png" descr="S5-stellar-expert-tx3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326880" y="4185984"/>
            <a:ext cx="8046720" cy="2126633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69" name="Screenshot S6-github-merged-prs.png" descr="S6-github-merged-prs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9326880" y="6495497"/>
            <a:ext cx="8046720" cy="1708638"/>
          </a:xfrm>
          <a:prstGeom prst="rect">
            <a:avLst/>
          </a:prstGeom>
          <a:ln w="12700">
            <a:solidFill>
              <a:srgbClr val="DFDDD6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