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1" r:id="rId101"/>
    <p:sldId id="262" r:id="rId102"/>
    <p:sldId id="260" r:id="rId10"/>
  </p:sldIdLst>
  <p:sldSz cy="10287000" cx="18288000"/>
  <p:notesSz cx="6858000" cy="9144000"/>
  <p:embeddedFontLst>
    <p:embeddedFont>
      <p:font typeface="Instrument Sans"/>
      <p:regular r:id="rId11"/>
      <p:bold r:id="rId12"/>
      <p:italic r:id="rId13"/>
      <p:boldItalic r:id="rId14"/>
    </p:embeddedFont>
    <p:embeddedFont>
      <p:font typeface="Inter Tight"/>
      <p:regular r:id="rId15"/>
      <p:bold r:id="rId16"/>
      <p:italic r:id="rId17"/>
      <p:boldItalic r:id="rId18"/>
    </p:embeddedFon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
<Relationships xmlns="http://schemas.openxmlformats.org/package/2006/relationships"><Relationship Id="rId20" Type="http://schemas.openxmlformats.org/officeDocument/2006/relationships/font" Target="fonts/JetBrainsMono-bold.fntdata"/><Relationship Id="rId11" Type="http://schemas.openxmlformats.org/officeDocument/2006/relationships/font" Target="fonts/InstrumentSans-regular.fntdata"/><Relationship Id="rId22" Type="http://schemas.openxmlformats.org/officeDocument/2006/relationships/font" Target="fonts/JetBrainsMono-boldItalic.fntdata"/><Relationship Id="rId10" Type="http://schemas.openxmlformats.org/officeDocument/2006/relationships/slide" Target="slides/slide5.xml"/><Relationship Id="rId21" Type="http://schemas.openxmlformats.org/officeDocument/2006/relationships/font" Target="fonts/JetBrainsMono-italic.fntdata"/><Relationship Id="rId13" Type="http://schemas.openxmlformats.org/officeDocument/2006/relationships/font" Target="fonts/InstrumentSans-italic.fntdata"/><Relationship Id="rId12" Type="http://schemas.openxmlformats.org/officeDocument/2006/relationships/font" Target="fonts/InstrumentSans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InterTight-regular.fntdata"/><Relationship Id="rId14" Type="http://schemas.openxmlformats.org/officeDocument/2006/relationships/font" Target="fonts/InstrumentSans-boldItalic.fntdata"/><Relationship Id="rId17" Type="http://schemas.openxmlformats.org/officeDocument/2006/relationships/font" Target="fonts/InterTight-italic.fntdata"/><Relationship Id="rId16" Type="http://schemas.openxmlformats.org/officeDocument/2006/relationships/font" Target="fonts/InterTight-bold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JetBrainsMono-regular.fntdata"/><Relationship Id="rId6" Type="http://schemas.openxmlformats.org/officeDocument/2006/relationships/slide" Target="slides/slide1.xml"/><Relationship Id="rId18" Type="http://schemas.openxmlformats.org/officeDocument/2006/relationships/font" Target="fonts/InterTight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01" Type="http://schemas.openxmlformats.org/officeDocument/2006/relationships/slide" Target="slides/slide6.xml"/><Relationship Id="rId102" Type="http://schemas.openxmlformats.org/officeDocument/2006/relationships/slide" Target="slides/slide7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Inter Tight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 b="0" i="0" sz="4400" u="none" cap="none" strike="noStrike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3.png"/><Relationship Id="rId6" Type="http://schemas.openxmlformats.org/officeDocument/2006/relationships/image" Target="../media/breakwater-logo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201" Type="http://schemas.openxmlformats.org/officeDocument/2006/relationships/image" Target="../media/bw-S1-term-policy-bypass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201" Type="http://schemas.openxmlformats.org/officeDocument/2006/relationships/image" Target="../media/bw-S4-report-ttl-archival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201" Type="http://schemas.openxmlformats.org/officeDocument/2006/relationships/image" Target="../media/bw-S7-repro-test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201" Type="http://schemas.openxmlformats.org/officeDocument/2006/relationships/image" Target="../media/bw-S8-repo-qr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201" Type="http://schemas.openxmlformats.org/officeDocument/2006/relationships/image" Target="../media/bw-S3-report-policy-bypass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201" Type="http://schemas.openxmlformats.org/officeDocument/2006/relationships/image" Target="../media/bw-S5-stellar-expert-tx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0F0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914400" y="7772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058400" y="777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01 / 07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914400" y="1600200"/>
            <a:ext cx="4206240" cy="475488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INVARIANT TESTING FOR SOROBAN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914400" y="2514600"/>
            <a:ext cx="109728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800" u="none" cap="none" strike="noStrike">
                <a:solidFill>
                  <a:srgbClr val="FDDA24"/>
                </a:solidFill>
                <a:latin typeface="Inter Tight"/>
                <a:ea typeface="Inter Tight"/>
                <a:cs typeface="Inter Tight"/>
                <a:sym typeface="Inter Tight"/>
              </a:rPr>
              <a:t>BREAK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800" u="none" cap="none" strike="noStrike">
                <a:solidFill>
                  <a:srgbClr val="FDDA24"/>
                </a:solidFill>
                <a:latin typeface="Inter Tight"/>
                <a:ea typeface="Inter Tight"/>
                <a:cs typeface="Inter Tight"/>
                <a:sym typeface="Inter Tight"/>
              </a:rPr>
              <a:t>WATER</a:t>
            </a:r>
            <a:endParaRPr/>
          </a:p>
        </p:txBody>
      </p:sp>
      <p:sp>
        <p:nvSpPr>
          <p:cNvPr id="88" name="Google Shape;88;p13"/>
          <p:cNvSpPr/>
          <p:nvPr/>
        </p:nvSpPr>
        <p:spPr>
          <a:xfrm>
            <a:off x="12435840" y="2103120"/>
            <a:ext cx="4937760" cy="2862850"/>
          </a:xfrm>
          <a:custGeom>
            <a:rect b="b" l="l" r="r" t="t"/>
            <a:pathLst>
              <a:path extrusionOk="0" h="2862850" w="4937760">
                <a:moveTo>
                  <a:pt x="0" y="0"/>
                </a:moveTo>
                <a:lnTo>
                  <a:pt x="0" y="1103116"/>
                </a:lnTo>
                <a:lnTo>
                  <a:pt x="2468880" y="2862850"/>
                </a:lnTo>
                <a:lnTo>
                  <a:pt x="4937760" y="1103116"/>
                </a:lnTo>
                <a:lnTo>
                  <a:pt x="4937760" y="0"/>
                </a:lnTo>
                <a:lnTo>
                  <a:pt x="2468880" y="1497086"/>
                </a:lnTo>
                <a:close/>
              </a:path>
            </a:pathLst>
          </a:custGeom>
          <a:solidFill>
            <a:srgbClr val="FDDA24">
              <a:alpha val="21961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89" name="Google Shape;89;p13"/>
          <p:cNvSpPr/>
          <p:nvPr/>
        </p:nvSpPr>
        <p:spPr>
          <a:xfrm>
            <a:off x="12435840" y="4151765"/>
            <a:ext cx="1444557" cy="1785998"/>
          </a:xfrm>
          <a:custGeom>
            <a:rect b="b" l="l" r="r" t="t"/>
            <a:pathLst>
              <a:path extrusionOk="0" h="1785998" w="1444557">
                <a:moveTo>
                  <a:pt x="0" y="0"/>
                </a:moveTo>
                <a:lnTo>
                  <a:pt x="0" y="1785998"/>
                </a:lnTo>
                <a:lnTo>
                  <a:pt x="1444557" y="866734"/>
                </a:lnTo>
                <a:close/>
              </a:path>
            </a:pathLst>
          </a:custGeom>
          <a:solidFill>
            <a:srgbClr val="FDDA24">
              <a:alpha val="21961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0" name="Google Shape;90;p13"/>
          <p:cNvSpPr/>
          <p:nvPr/>
        </p:nvSpPr>
        <p:spPr>
          <a:xfrm>
            <a:off x="15929042" y="4151765"/>
            <a:ext cx="1444558" cy="1785998"/>
          </a:xfrm>
          <a:custGeom>
            <a:rect b="b" l="l" r="r" t="t"/>
            <a:pathLst>
              <a:path extrusionOk="0" h="1785998" w="1444558">
                <a:moveTo>
                  <a:pt x="1444558" y="0"/>
                </a:moveTo>
                <a:lnTo>
                  <a:pt x="1444558" y="1785998"/>
                </a:lnTo>
                <a:lnTo>
                  <a:pt x="0" y="866734"/>
                </a:lnTo>
                <a:close/>
              </a:path>
            </a:pathLst>
          </a:custGeom>
          <a:solidFill>
            <a:srgbClr val="FDDA24">
              <a:alpha val="21961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descr="hm-white.png" id="91" name="Google Shape;91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4400" y="6812280"/>
            <a:ext cx="4721192" cy="82296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3"/>
          <p:cNvSpPr/>
          <p:nvPr/>
        </p:nvSpPr>
        <p:spPr>
          <a:xfrm>
            <a:off x="5989320" y="6766560"/>
            <a:ext cx="18288" cy="914400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descr="guava-white.png" id="93" name="Google Shape;93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55080" y="6967728"/>
            <a:ext cx="2159633" cy="51206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tellar-white.png" id="94" name="Google Shape;94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823960" y="6903720"/>
            <a:ext cx="2483581" cy="621792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3"/>
          <p:cNvSpPr/>
          <p:nvPr/>
        </p:nvSpPr>
        <p:spPr>
          <a:xfrm rot="5400000">
            <a:off x="14904720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13"/>
          <p:cNvSpPr/>
          <p:nvPr/>
        </p:nvSpPr>
        <p:spPr>
          <a:xfrm rot="5400000">
            <a:off x="15599664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FDDA24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7" name="Google Shape;97;p13"/>
          <p:cNvSpPr/>
          <p:nvPr/>
        </p:nvSpPr>
        <p:spPr>
          <a:xfrm rot="5400000">
            <a:off x="16294608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FDDA24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14400" y="8641080"/>
            <a:ext cx="16459200" cy="1371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914400" y="89611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October 2026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64008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#HackMeridian26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118872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7A7A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</a:t>
            </a:r>
            <a:endParaRPr/>
          </a:p>
        </p:txBody>
      </p:sp>
      <p:pic>
        <p:nvPicPr>
          <p:cNvPr descr="Breakwater logo: a wave breaking on a tetrapod" id="200" name="Breakwater 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3750" y="2628900"/>
            <a:ext cx="4572000" cy="3124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2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02 / 07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PMF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2651760" cy="475488"/>
          </a:xfrm>
          <a:prstGeom prst="roundRect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0F0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PITCH STEP 01 / 06</a:t>
            </a:r>
            <a:endParaRPr/>
          </a:p>
        </p:txBody>
      </p:sp>
      <p:sp>
        <p:nvSpPr>
          <p:cNvPr id="111" name="Google Shape;111;p14"/>
          <p:cNvSpPr txBox="1"/>
          <p:nvPr/>
        </p:nvSpPr>
        <p:spPr>
          <a:xfrm>
            <a:off x="914400" y="210312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0" u="none" cap="none" strike="noStrike">
                <a:solidFill>
                  <a:srgbClr val="0F0F0F"/>
                </a:solidFill>
                <a:latin typeface="Inter Tight"/>
                <a:ea typeface="Inter Tight"/>
                <a:cs typeface="Inter Tight"/>
                <a:sym typeface="Inter Tight"/>
              </a:rPr>
              <a:t>THE SOLUTION</a:t>
            </a:r>
            <a:endParaRPr/>
          </a:p>
        </p:txBody>
      </p:sp>
      <p:sp>
        <p:nvSpPr>
          <p:cNvPr id="112" name="Google Shape;112;p14"/>
          <p:cNvSpPr txBox="1"/>
          <p:nvPr/>
        </p:nvSpPr>
        <p:spPr>
          <a:xfrm>
            <a:off x="914400" y="3794760"/>
            <a:ext cx="786384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Breakwater searches for the call sequence that breaks your Soroban invariants.</a:t>
            </a:r>
            <a:endParaRPr/>
          </a:p>
        </p:txBody>
      </p:sp>
      <p:sp>
        <p:nvSpPr>
          <p:cNvPr id="113" name="Google Shape;113;p14"/>
          <p:cNvSpPr txBox="1"/>
          <p:nvPr/>
        </p:nvSpPr>
        <p:spPr>
          <a:xfrm>
            <a:off x="914400" y="4800600"/>
            <a:ext cx="786384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Random multi-step sequences run against a local Soroban Env; every invariant is checked after every step.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 failure is shrunk to its minimal steps and exported as a Rust regression test.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Two attack packs for Stellar-specific risk: smart-account policies and TTL state archival.</a:t>
            </a:r>
            <a:endParaRPr/>
          </a:p>
        </p:txBody>
      </p:sp>
      <p:sp>
        <p:nvSpPr>
          <p:cNvPr id="114" name="Google Shape;114;p14"/>
          <p:cNvSpPr/>
          <p:nvPr/>
        </p:nvSpPr>
        <p:spPr>
          <a:xfrm>
            <a:off x="914400" y="7269480"/>
            <a:ext cx="7863840" cy="914400"/>
          </a:xfrm>
          <a:prstGeom prst="roundRect">
            <a:avLst>
              <a:gd fmla="val 22000" name="adj"/>
            </a:avLst>
          </a:prstGeom>
          <a:solidFill>
            <a:srgbClr val="FFFFFF"/>
          </a:solidFill>
          <a:ln cap="flat" cmpd="sng" w="3810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365750" spcFirstLastPara="1" rIns="365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Why sequences: </a:t>
            </a:r>
            <a:r>
              <a:rPr b="0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Single-call tests prove each payment is fine. Only a sequence shows whether the account is.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descr="hm-black.png" id="123" name="Google Shape;12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859000" y="9171432"/>
            <a:ext cx="2517969" cy="438912"/>
          </a:xfrm>
          <a:prstGeom prst="rect">
            <a:avLst/>
          </a:prstGeom>
          <a:noFill/>
          <a:ln>
            <a:noFill/>
          </a:ln>
        </p:spPr>
      </p:pic>
      <p:pic xmlns:p="http://schemas.openxmlformats.org/presentationml/2006/main" xmlns:a="http://schemas.openxmlformats.org/drawingml/2006/main" xmlns:r="http://schemas.openxmlformats.org/officeDocument/2006/relationships">
        <p:nvPicPr>
          <p:cNvPr id="124" name="Screenshot S1-term-policy-bypass.png" descr="S1-term-policy-bypass.png"/>
          <p:cNvPicPr>
            <a:picLocks noChangeAspect="1"/>
          </p:cNvPicPr>
          <p:nvPr/>
        </p:nvPicPr>
        <p:blipFill>
          <a:blip r:embed="rId201"/>
          <a:stretch>
            <a:fillRect/>
          </a:stretch>
        </p:blipFill>
        <p:spPr>
          <a:xfrm>
            <a:off x="9326880" y="4952071"/>
            <a:ext cx="8046720" cy="2485979"/>
          </a:xfrm>
          <a:prstGeom prst="rect">
            <a:avLst/>
          </a:prstGeom>
          <a:ln w="12700">
            <a:solidFill>
              <a:srgbClr val="DFDDD6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2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5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9" name="Google Shape;129;p15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03 / 07</a:t>
            </a:r>
            <a:endParaRPr/>
          </a:p>
        </p:txBody>
      </p:sp>
      <p:sp>
        <p:nvSpPr>
          <p:cNvPr id="130" name="Google Shape;130;p15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31" name="Google Shape;131;p15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TECHNICAL WORKFLOW</a:t>
            </a:r>
            <a:endParaRPr/>
          </a:p>
        </p:txBody>
      </p:sp>
      <p:sp>
        <p:nvSpPr>
          <p:cNvPr id="132" name="Google Shape;132;p15"/>
          <p:cNvSpPr/>
          <p:nvPr/>
        </p:nvSpPr>
        <p:spPr>
          <a:xfrm>
            <a:off x="914400" y="1417320"/>
            <a:ext cx="2651760" cy="475488"/>
          </a:xfrm>
          <a:prstGeom prst="roundRect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0F0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PITCH STEP 02 / 06</a:t>
            </a:r>
            <a:endParaRPr/>
          </a:p>
        </p:txBody>
      </p:sp>
      <p:sp>
        <p:nvSpPr>
          <p:cNvPr id="133" name="Google Shape;133;p15"/>
          <p:cNvSpPr txBox="1"/>
          <p:nvPr/>
        </p:nvSpPr>
        <p:spPr>
          <a:xfrm>
            <a:off x="914400" y="210312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0" u="none" cap="none" strike="noStrike">
                <a:solidFill>
                  <a:srgbClr val="0F0F0F"/>
                </a:solidFill>
                <a:latin typeface="Inter Tight"/>
                <a:ea typeface="Inter Tight"/>
                <a:cs typeface="Inter Tight"/>
                <a:sym typeface="Inter Tight"/>
              </a:rPr>
              <a:t>PMF</a:t>
            </a:r>
            <a:endParaRPr/>
          </a:p>
        </p:txBody>
      </p:sp>
      <p:sp>
        <p:nvSpPr>
          <p:cNvPr id="134" name="Google Shape;134;p15"/>
          <p:cNvSpPr txBox="1"/>
          <p:nvPr/>
        </p:nvSpPr>
        <p:spPr>
          <a:xfrm>
            <a:off x="914400" y="3794760"/>
            <a:ext cx="786384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Soroban has static analysis, AI review and formal verification, but no reusable stateful fuzzing.</a:t>
            </a:r>
            <a:endParaRPr/>
          </a:p>
        </p:txBody>
      </p:sp>
      <p:sp>
        <p:nvSpPr>
          <p:cNvPr id="135" name="Google Shape;135;p15"/>
          <p:cNvSpPr txBox="1"/>
          <p:nvPr/>
        </p:nvSpPr>
        <p:spPr>
          <a:xfrm>
            <a:off x="914400" y="4800600"/>
            <a:ext cx="786384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Agent wallets paying over x402 / MPP rely on smart-account policies; a policy that holds for one call may fail for five.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Protocol 23 archived 478 contract entries with stale values; 84 were restored into live state before Protocol 24 fixed it.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For every Soroban team shipping custom accounts or long-lived storage; a suite runs as cargo test.</a:t>
            </a:r>
            <a:endParaRPr/>
          </a:p>
        </p:txBody>
      </p:sp>
      <p:sp>
        <p:nvSpPr>
          <p:cNvPr id="136" name="Google Shape;136;p15"/>
          <p:cNvSpPr/>
          <p:nvPr/>
        </p:nvSpPr>
        <p:spPr>
          <a:xfrm>
            <a:off x="914400" y="7269480"/>
            <a:ext cx="7863840" cy="914400"/>
          </a:xfrm>
          <a:prstGeom prst="roundRect">
            <a:avLst>
              <a:gd fmla="val 22000" name="adj"/>
            </a:avLst>
          </a:prstGeom>
          <a:solidFill>
            <a:srgbClr val="FFFFFF"/>
          </a:solidFill>
          <a:ln cap="flat" cmpd="sng" w="3810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365750" spcFirstLastPara="1" rIns="365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gap: </a:t>
            </a:r>
            <a:r>
              <a:rPr b="0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bugs that cost money here only appear across many transactions and long gaps.</a:t>
            </a:r>
            <a:endParaRPr/>
          </a:p>
        </p:txBody>
      </p:sp>
      <p:sp>
        <p:nvSpPr>
          <p:cNvPr id="143" name="Google Shape;143;p15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4" name="Google Shape;144;p15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descr="hm-black.png" id="145" name="Google Shape;145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859000" y="9171432"/>
            <a:ext cx="2517969" cy="438912"/>
          </a:xfrm>
          <a:prstGeom prst="rect">
            <a:avLst/>
          </a:prstGeom>
          <a:noFill/>
          <a:ln>
            <a:noFill/>
          </a:ln>
        </p:spPr>
      </p:pic>
      <p:pic xmlns:p="http://schemas.openxmlformats.org/presentationml/2006/main" xmlns:a="http://schemas.openxmlformats.org/drawingml/2006/main" xmlns:r="http://schemas.openxmlformats.org/officeDocument/2006/relationships">
        <p:nvPicPr>
          <p:cNvPr id="146" name="Screenshot S4-report-ttl-archival.png" descr="S4-report-ttl-archival.png"/>
          <p:cNvPicPr>
            <a:picLocks noChangeAspect="1"/>
          </p:cNvPicPr>
          <p:nvPr/>
        </p:nvPicPr>
        <p:blipFill>
          <a:blip r:embed="rId201"/>
          <a:stretch>
            <a:fillRect/>
          </a:stretch>
        </p:blipFill>
        <p:spPr>
          <a:xfrm>
            <a:off x="9326880" y="4241409"/>
            <a:ext cx="8046720" cy="3907302"/>
          </a:xfrm>
          <a:prstGeom prst="rect">
            <a:avLst/>
          </a:prstGeom>
          <a:ln w="12700">
            <a:solidFill>
              <a:srgbClr val="DFDDD6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2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6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1" name="Google Shape;151;p16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04 / 07</a:t>
            </a:r>
            <a:endParaRPr/>
          </a:p>
        </p:txBody>
      </p:sp>
      <p:sp>
        <p:nvSpPr>
          <p:cNvPr id="152" name="Google Shape;152;p16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53" name="Google Shape;153;p16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FINDINGS</a:t>
            </a:r>
            <a:endParaRPr/>
          </a:p>
        </p:txBody>
      </p:sp>
      <p:sp>
        <p:nvSpPr>
          <p:cNvPr id="154" name="Google Shape;154;p16"/>
          <p:cNvSpPr/>
          <p:nvPr/>
        </p:nvSpPr>
        <p:spPr>
          <a:xfrm>
            <a:off x="914400" y="1417320"/>
            <a:ext cx="2651760" cy="475488"/>
          </a:xfrm>
          <a:prstGeom prst="roundRect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0F0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PITCH STEP 03 / 06</a:t>
            </a:r>
            <a:endParaRPr/>
          </a:p>
        </p:txBody>
      </p:sp>
      <p:sp>
        <p:nvSpPr>
          <p:cNvPr id="155" name="Google Shape;155;p16"/>
          <p:cNvSpPr txBox="1"/>
          <p:nvPr/>
        </p:nvSpPr>
        <p:spPr>
          <a:xfrm>
            <a:off x="914400" y="210312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0" u="none" cap="none" strike="noStrike">
                <a:solidFill>
                  <a:srgbClr val="0F0F0F"/>
                </a:solidFill>
                <a:latin typeface="Inter Tight"/>
                <a:ea typeface="Inter Tight"/>
                <a:cs typeface="Inter Tight"/>
                <a:sym typeface="Inter Tight"/>
              </a:rPr>
              <a:t>TECHNICAL WORKFLOW</a:t>
            </a:r>
            <a:endParaRPr/>
          </a:p>
        </p:txBody>
      </p:sp>
      <p:sp>
        <p:nvSpPr>
          <p:cNvPr id="156" name="Google Shape;156;p16"/>
          <p:cNvSpPr txBox="1"/>
          <p:nvPr/>
        </p:nvSpPr>
        <p:spPr>
          <a:xfrm>
            <a:off x="914400" y="3794760"/>
            <a:ext cx="786384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Declare, generate, check, shrink and export: one cargo test.</a:t>
            </a:r>
            <a:endParaRPr/>
          </a:p>
        </p:txBody>
      </p:sp>
      <p:sp>
        <p:nvSpPr>
          <p:cNvPr id="157" name="Google Shape;157;p16"/>
          <p:cNvSpPr txBox="1"/>
          <p:nvPr/>
        </p:nvSpPr>
        <p:spPr>
          <a:xfrm>
            <a:off x="914400" y="4800600"/>
            <a:ext cx="786384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proptest-state-machine generates seeded sequences; each case restores a ledger snapshot instead of redeploying.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Real auth mode signs every step with Ed25519, so OpenZeppelin's __check_auth and policies really run.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TTL is read from ledger entries without touching them, so probing never auto-restores an archived entry.</a:t>
            </a:r>
            <a:endParaRPr/>
          </a:p>
        </p:txBody>
      </p:sp>
      <p:sp>
        <p:nvSpPr>
          <p:cNvPr id="158" name="Google Shape;158;p16"/>
          <p:cNvSpPr/>
          <p:nvPr/>
        </p:nvSpPr>
        <p:spPr>
          <a:xfrm>
            <a:off x="914400" y="7269480"/>
            <a:ext cx="7863840" cy="914400"/>
          </a:xfrm>
          <a:prstGeom prst="roundRect">
            <a:avLst>
              <a:gd fmla="val 22000" name="adj"/>
            </a:avLst>
          </a:prstGeom>
          <a:solidFill>
            <a:srgbClr val="FFFFFF"/>
          </a:solidFill>
          <a:ln cap="flat" cmpd="sng" w="3810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365750" spcFirstLastPara="1" rIns="365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Real auth: </a:t>
            </a:r>
            <a:r>
              <a:rPr b="0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 finding under real authorization is a real bypass, not a mocking artifact.</a:t>
            </a:r>
            <a:endParaRPr/>
          </a:p>
        </p:txBody>
      </p:sp>
      <p:sp>
        <p:nvSpPr>
          <p:cNvPr id="165" name="Google Shape;165;p16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6" name="Google Shape;166;p16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descr="hm-black.png" id="167" name="Google Shape;16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859000" y="9171432"/>
            <a:ext cx="2517969" cy="438912"/>
          </a:xfrm>
          <a:prstGeom prst="rect">
            <a:avLst/>
          </a:prstGeom>
          <a:noFill/>
          <a:ln>
            <a:noFill/>
          </a:ln>
        </p:spPr>
      </p:pic>
      <p:sp xmlns:p="http://schemas.openxmlformats.org/presentationml/2006/main" xmlns:a="http://schemas.openxmlformats.org/drawingml/2006/main">
        <p:nvSpPr>
          <p:cNvPr id="168" name="Workflow 168"/>
          <p:cNvSpPr/>
          <p:nvPr/>
        </p:nvSpPr>
        <p:spPr>
          <a:xfrm>
            <a:off x="9322308" y="3794760"/>
            <a:ext cx="1691640" cy="1051560"/>
          </a:xfrm>
          <a:prstGeom prst="roundRect">
            <a:avLst/>
          </a:prstGeom>
          <a:solidFill>
            <a:srgbClr val="0F0F0F"/>
          </a:solidFill>
          <a:ln>
            <a:noFill/>
          </a:ln>
        </p:spPr>
        <p:txBody>
          <a:bodyPr anchor="ctr" lIns="45720" rIns="45720" tIns="0" bIns="0" wrap="square">
            <a:noAutofit/>
          </a:bodyPr>
          <a:lstStyle/>
          <a:p>
            <a:pPr algn="ctr">
              <a:buNone/>
            </a:pPr>
            <a:r>
              <a:rPr lang="en-US" b="1" sz="1500">
                <a:solidFill>
                  <a:srgbClr val="FDDA24"/>
                </a:solidFill>
                <a:latin typeface="JetBrains Mono"/>
              </a:rPr>
              <a:t>DECLARE</a:t>
            </a:r>
          </a:p>
          <a:p>
            <a:pPr algn="ctr">
              <a:buNone/>
            </a:pPr>
            <a:r>
              <a:rPr lang="en-US" sz="1050">
                <a:solidFill>
                  <a:srgbClr val="FDDA24"/>
                </a:solidFill>
                <a:latin typeface="Instrument Sans"/>
              </a:rPr>
              <a:t>actors · handlers · invariants</a:t>
            </a:r>
          </a:p>
        </p:txBody>
      </p:sp>
      <p:sp xmlns:p="http://schemas.openxmlformats.org/presentationml/2006/main" xmlns:a="http://schemas.openxmlformats.org/drawingml/2006/main">
        <p:nvSpPr>
          <p:cNvPr id="169" name="Workflow 169"/>
          <p:cNvSpPr/>
          <p:nvPr/>
        </p:nvSpPr>
        <p:spPr>
          <a:xfrm>
            <a:off x="11077956" y="4174236"/>
            <a:ext cx="301752" cy="292608"/>
          </a:xfrm>
          <a:prstGeom prst="rightArrow">
            <a:avLst/>
          </a:prstGeom>
          <a:solidFill>
            <a:srgbClr val="FDDA24"/>
          </a:solidFill>
          <a:ln>
            <a:noFill/>
          </a:ln>
        </p:spPr>
      </p:sp>
      <p:sp xmlns:p="http://schemas.openxmlformats.org/presentationml/2006/main" xmlns:a="http://schemas.openxmlformats.org/drawingml/2006/main">
        <p:nvSpPr>
          <p:cNvPr id="170" name="Workflow 170"/>
          <p:cNvSpPr/>
          <p:nvPr/>
        </p:nvSpPr>
        <p:spPr>
          <a:xfrm>
            <a:off x="11443716" y="3794760"/>
            <a:ext cx="1691640" cy="1051560"/>
          </a:xfrm>
          <a:prstGeom prst="roundRect">
            <a:avLst/>
          </a:prstGeom>
          <a:solidFill>
            <a:srgbClr val="0F0F0F"/>
          </a:solidFill>
          <a:ln>
            <a:noFill/>
          </a:ln>
        </p:spPr>
        <p:txBody>
          <a:bodyPr anchor="ctr" lIns="45720" rIns="45720" tIns="0" bIns="0" wrap="square">
            <a:noAutofit/>
          </a:bodyPr>
          <a:lstStyle/>
          <a:p>
            <a:pPr algn="ctr">
              <a:buNone/>
            </a:pPr>
            <a:r>
              <a:rPr lang="en-US" b="1" sz="1500">
                <a:solidFill>
                  <a:srgbClr val="FDDA24"/>
                </a:solidFill>
                <a:latin typeface="JetBrains Mono"/>
              </a:rPr>
              <a:t>GENERATE</a:t>
            </a:r>
          </a:p>
          <a:p>
            <a:pPr algn="ctr">
              <a:buNone/>
            </a:pPr>
            <a:r>
              <a:rPr lang="en-US" sz="1050">
                <a:solidFill>
                  <a:srgbClr val="FDDA24"/>
                </a:solidFill>
                <a:latin typeface="Instrument Sans"/>
              </a:rPr>
              <a:t>seeded sequences</a:t>
            </a:r>
          </a:p>
        </p:txBody>
      </p:sp>
      <p:sp xmlns:p="http://schemas.openxmlformats.org/presentationml/2006/main" xmlns:a="http://schemas.openxmlformats.org/drawingml/2006/main">
        <p:nvSpPr>
          <p:cNvPr id="171" name="Workflow 171"/>
          <p:cNvSpPr/>
          <p:nvPr/>
        </p:nvSpPr>
        <p:spPr>
          <a:xfrm>
            <a:off x="13199364" y="4174236"/>
            <a:ext cx="301752" cy="292608"/>
          </a:xfrm>
          <a:prstGeom prst="rightArrow">
            <a:avLst/>
          </a:prstGeom>
          <a:solidFill>
            <a:srgbClr val="FDDA24"/>
          </a:solidFill>
          <a:ln>
            <a:noFill/>
          </a:ln>
        </p:spPr>
      </p:sp>
      <p:sp xmlns:p="http://schemas.openxmlformats.org/presentationml/2006/main" xmlns:a="http://schemas.openxmlformats.org/drawingml/2006/main">
        <p:nvSpPr>
          <p:cNvPr id="172" name="Workflow 172"/>
          <p:cNvSpPr/>
          <p:nvPr/>
        </p:nvSpPr>
        <p:spPr>
          <a:xfrm>
            <a:off x="13565124" y="3794760"/>
            <a:ext cx="1691640" cy="1051560"/>
          </a:xfrm>
          <a:prstGeom prst="roundRect">
            <a:avLst/>
          </a:prstGeom>
          <a:solidFill>
            <a:srgbClr val="0F0F0F"/>
          </a:solidFill>
          <a:ln>
            <a:noFill/>
          </a:ln>
        </p:spPr>
        <p:txBody>
          <a:bodyPr anchor="ctr" lIns="45720" rIns="45720" tIns="0" bIns="0" wrap="square">
            <a:noAutofit/>
          </a:bodyPr>
          <a:lstStyle/>
          <a:p>
            <a:pPr algn="ctr">
              <a:buNone/>
            </a:pPr>
            <a:r>
              <a:rPr lang="en-US" b="1" sz="1500">
                <a:solidFill>
                  <a:srgbClr val="FDDA24"/>
                </a:solidFill>
                <a:latin typeface="JetBrains Mono"/>
              </a:rPr>
              <a:t>CHECK</a:t>
            </a:r>
          </a:p>
          <a:p>
            <a:pPr algn="ctr">
              <a:buNone/>
            </a:pPr>
            <a:r>
              <a:rPr lang="en-US" sz="1050">
                <a:solidFill>
                  <a:srgbClr val="FDDA24"/>
                </a:solidFill>
                <a:latin typeface="Instrument Sans"/>
              </a:rPr>
              <a:t>every invariant, every step</a:t>
            </a:r>
          </a:p>
        </p:txBody>
      </p:sp>
      <p:sp xmlns:p="http://schemas.openxmlformats.org/presentationml/2006/main" xmlns:a="http://schemas.openxmlformats.org/drawingml/2006/main">
        <p:nvSpPr>
          <p:cNvPr id="173" name="Workflow 173"/>
          <p:cNvSpPr/>
          <p:nvPr/>
        </p:nvSpPr>
        <p:spPr>
          <a:xfrm>
            <a:off x="15320772" y="4174236"/>
            <a:ext cx="301752" cy="292608"/>
          </a:xfrm>
          <a:prstGeom prst="rightArrow">
            <a:avLst/>
          </a:prstGeom>
          <a:solidFill>
            <a:srgbClr val="FDDA24"/>
          </a:solidFill>
          <a:ln>
            <a:noFill/>
          </a:ln>
        </p:spPr>
      </p:sp>
      <p:sp xmlns:p="http://schemas.openxmlformats.org/presentationml/2006/main" xmlns:a="http://schemas.openxmlformats.org/drawingml/2006/main">
        <p:nvSpPr>
          <p:cNvPr id="174" name="Workflow 174"/>
          <p:cNvSpPr/>
          <p:nvPr/>
        </p:nvSpPr>
        <p:spPr>
          <a:xfrm>
            <a:off x="15686532" y="3794760"/>
            <a:ext cx="1691640" cy="1051560"/>
          </a:xfrm>
          <a:prstGeom prst="roundRect">
            <a:avLst/>
          </a:prstGeom>
          <a:solidFill>
            <a:srgbClr val="0F0F0F"/>
          </a:solidFill>
          <a:ln>
            <a:noFill/>
          </a:ln>
        </p:spPr>
        <p:txBody>
          <a:bodyPr anchor="ctr" lIns="45720" rIns="45720" tIns="0" bIns="0" wrap="square">
            <a:noAutofit/>
          </a:bodyPr>
          <a:lstStyle/>
          <a:p>
            <a:pPr algn="ctr">
              <a:buNone/>
            </a:pPr>
            <a:r>
              <a:rPr lang="en-US" b="1" sz="1500">
                <a:solidFill>
                  <a:srgbClr val="FDDA24"/>
                </a:solidFill>
                <a:latin typeface="JetBrains Mono"/>
              </a:rPr>
              <a:t>SHRINK</a:t>
            </a:r>
          </a:p>
          <a:p>
            <a:pPr algn="ctr">
              <a:buNone/>
            </a:pPr>
            <a:r>
              <a:rPr lang="en-US" sz="1050">
                <a:solidFill>
                  <a:srgbClr val="FDDA24"/>
                </a:solidFill>
                <a:latin typeface="Instrument Sans"/>
              </a:rPr>
              <a:t>minimal repro → .rs test</a:t>
            </a:r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175" name="Screenshot S7-repro-test.png" descr="S7-repro-test.png"/>
          <p:cNvPicPr>
            <a:picLocks noChangeAspect="1"/>
          </p:cNvPicPr>
          <p:nvPr/>
        </p:nvPicPr>
        <p:blipFill>
          <a:blip r:embed="rId201"/>
          <a:stretch>
            <a:fillRect/>
          </a:stretch>
        </p:blipFill>
        <p:spPr>
          <a:xfrm>
            <a:off x="10681252" y="5120640"/>
            <a:ext cx="5337976" cy="3474720"/>
          </a:xfrm>
          <a:prstGeom prst="rect">
            <a:avLst/>
          </a:prstGeom>
          <a:ln w="12700">
            <a:solidFill>
              <a:srgbClr val="DFDDD6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2"/>
        </a:solid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7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3" name="Google Shape;173;p17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07 / 07</a:t>
            </a:r>
            <a:endParaRPr/>
          </a:p>
        </p:txBody>
      </p:sp>
      <p:sp>
        <p:nvSpPr>
          <p:cNvPr id="174" name="Google Shape;174;p17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75" name="Google Shape;175;p17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FINAL STOP</a:t>
            </a:r>
            <a:endParaRPr/>
          </a:p>
        </p:txBody>
      </p:sp>
      <p:sp>
        <p:nvSpPr>
          <p:cNvPr id="176" name="Google Shape;176;p17"/>
          <p:cNvSpPr/>
          <p:nvPr/>
        </p:nvSpPr>
        <p:spPr>
          <a:xfrm>
            <a:off x="914400" y="1417320"/>
            <a:ext cx="2651760" cy="475488"/>
          </a:xfrm>
          <a:prstGeom prst="roundRect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0F0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PITCH STEP 06 / 06</a:t>
            </a:r>
            <a:endParaRPr/>
          </a:p>
        </p:txBody>
      </p:sp>
      <p:sp>
        <p:nvSpPr>
          <p:cNvPr id="177" name="Google Shape;177;p17"/>
          <p:cNvSpPr txBox="1"/>
          <p:nvPr/>
        </p:nvSpPr>
        <p:spPr>
          <a:xfrm>
            <a:off x="914400" y="210312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0" u="none" cap="none" strike="noStrike">
                <a:solidFill>
                  <a:srgbClr val="0F0F0F"/>
                </a:solidFill>
                <a:latin typeface="Inter Tight"/>
                <a:ea typeface="Inter Tight"/>
                <a:cs typeface="Inter Tight"/>
                <a:sym typeface="Inter Tight"/>
              </a:rPr>
              <a:t>THE TEAM</a:t>
            </a:r>
            <a:endParaRPr/>
          </a:p>
        </p:txBody>
      </p:sp>
      <p:sp>
        <p:nvSpPr>
          <p:cNvPr id="178" name="Google Shape;178;p17"/>
          <p:cNvSpPr txBox="1"/>
          <p:nvPr/>
        </p:nvSpPr>
        <p:spPr>
          <a:xfrm>
            <a:off x="914400" y="3794760"/>
            <a:ext cx="786384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Hannes Gao · Belvast Innovation · Karlsruhe, Germany</a:t>
            </a:r>
            <a:endParaRPr/>
          </a:p>
        </p:txBody>
      </p:sp>
      <p:sp>
        <p:nvSpPr>
          <p:cNvPr id="179" name="Google Shape;179;p17"/>
          <p:cNvSpPr txBox="1"/>
          <p:nvPr/>
        </p:nvSpPr>
        <p:spPr>
          <a:xfrm>
            <a:off x="914400" y="4800600"/>
            <a:ext cx="786384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Solo builder: framework design, Rust implementation, attack packs, Testnet replay.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Repository: github.com/Belvast-Innovation/Breakwater (Apache-2.0).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Next: rule-rotation probe, restoration-cost CI gate, XDR replay export; then crates.io and a GitHub Action.</a:t>
            </a:r>
            <a:endParaRPr/>
          </a:p>
        </p:txBody>
      </p:sp>
      <p:sp>
        <p:nvSpPr>
          <p:cNvPr id="180" name="Google Shape;180;p17"/>
          <p:cNvSpPr/>
          <p:nvPr/>
        </p:nvSpPr>
        <p:spPr>
          <a:xfrm>
            <a:off x="914400" y="7269480"/>
            <a:ext cx="7863840" cy="914400"/>
          </a:xfrm>
          <a:prstGeom prst="roundRect">
            <a:avLst>
              <a:gd fmla="val 22000" name="adj"/>
            </a:avLst>
          </a:prstGeom>
          <a:solidFill>
            <a:srgbClr val="FFFFFF"/>
          </a:solidFill>
          <a:ln cap="flat" cmpd="sng" w="3810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365750" spcFirstLastPara="1" rIns="365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Provenance: </a:t>
            </a:r>
            <a:r>
              <a:rPr b="0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Everything shown was built during the event; the commit history is the record.</a:t>
            </a:r>
            <a:endParaRPr/>
          </a:p>
        </p:txBody>
      </p:sp>
      <p:sp>
        <p:nvSpPr>
          <p:cNvPr id="187" name="Google Shape;187;p17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8" name="Google Shape;188;p17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descr="hm-black.png" id="189" name="Google Shape;189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859000" y="9171432"/>
            <a:ext cx="2517969" cy="438912"/>
          </a:xfrm>
          <a:prstGeom prst="rect">
            <a:avLst/>
          </a:prstGeom>
          <a:noFill/>
          <a:ln>
            <a:noFill/>
          </a:ln>
        </p:spPr>
      </p:pic>
      <p:pic xmlns:p="http://schemas.openxmlformats.org/presentationml/2006/main" xmlns:a="http://schemas.openxmlformats.org/drawingml/2006/main" xmlns:r="http://schemas.openxmlformats.org/officeDocument/2006/relationships">
        <p:nvPicPr>
          <p:cNvPr id="190" name="Screenshot S8-repo-qr.png" descr="S8-repo-qr.png"/>
          <p:cNvPicPr>
            <a:picLocks noChangeAspect="1"/>
          </p:cNvPicPr>
          <p:nvPr/>
        </p:nvPicPr>
        <p:blipFill>
          <a:blip r:embed="rId201"/>
          <a:stretch>
            <a:fillRect/>
          </a:stretch>
        </p:blipFill>
        <p:spPr>
          <a:xfrm>
            <a:off x="11704320" y="3886200"/>
            <a:ext cx="3291840" cy="3291840"/>
          </a:xfrm>
          <a:prstGeom prst="rect">
            <a:avLst/>
          </a:prstGeom>
          <a:ln w="12700">
            <a:solidFill>
              <a:srgbClr val="DFDDD6"/>
            </a:solidFill>
          </a:ln>
        </p:spPr>
      </p:pic>
      <p:sp xmlns:p="http://schemas.openxmlformats.org/presentationml/2006/main" xmlns:a="http://schemas.openxmlformats.org/drawingml/2006/main">
        <p:nvSpPr>
          <p:cNvPr id="191" name="Workflow 191"/>
          <p:cNvSpPr/>
          <p:nvPr/>
        </p:nvSpPr>
        <p:spPr>
          <a:xfrm>
            <a:off x="9326880" y="7360920"/>
            <a:ext cx="8046720" cy="457200"/>
          </a:xfrm>
          <a:prstGeom prst="rect">
            <a:avLst/>
          </a:prstGeom>
          <a:solidFill>
            <a:srgbClr val="F7F6F2"/>
          </a:solidFill>
          <a:ln>
            <a:noFill/>
          </a:ln>
        </p:spPr>
        <p:txBody>
          <a:bodyPr anchor="ctr" lIns="45720" rIns="45720" tIns="0" bIns="0" wrap="square">
            <a:noAutofit/>
          </a:bodyPr>
          <a:lstStyle/>
          <a:p>
            <a:pPr algn="ctr">
              <a:buNone/>
            </a:pPr>
            <a:r>
              <a:rPr lang="en-US" b="1" sz="1600">
                <a:solidFill>
                  <a:srgbClr val="0F0F0F"/>
                </a:solidFill>
                <a:latin typeface="JetBrains Mono"/>
              </a:rPr>
              <a:t>github.com/Belvast-Innovation/Breakwater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2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6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1" name="Google Shape;151;p16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05 / 07</a:t>
            </a:r>
            <a:endParaRPr/>
          </a:p>
        </p:txBody>
      </p:sp>
      <p:sp>
        <p:nvSpPr>
          <p:cNvPr id="152" name="Google Shape;152;p16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53" name="Google Shape;153;p16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TESTNET &amp; PROGRESS</a:t>
            </a:r>
            <a:endParaRPr/>
          </a:p>
        </p:txBody>
      </p:sp>
      <p:sp>
        <p:nvSpPr>
          <p:cNvPr id="154" name="Google Shape;154;p16"/>
          <p:cNvSpPr/>
          <p:nvPr/>
        </p:nvSpPr>
        <p:spPr>
          <a:xfrm>
            <a:off x="914400" y="1417320"/>
            <a:ext cx="2651760" cy="475488"/>
          </a:xfrm>
          <a:prstGeom prst="roundRect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0F0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PITCH STEP 04 / 06</a:t>
            </a:r>
            <a:endParaRPr/>
          </a:p>
        </p:txBody>
      </p:sp>
      <p:sp>
        <p:nvSpPr>
          <p:cNvPr id="155" name="Google Shape;155;p16"/>
          <p:cNvSpPr txBox="1"/>
          <p:nvPr/>
        </p:nvSpPr>
        <p:spPr>
          <a:xfrm>
            <a:off x="914400" y="210312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0" u="none" cap="none" strike="noStrike">
                <a:solidFill>
                  <a:srgbClr val="0F0F0F"/>
                </a:solidFill>
                <a:latin typeface="Inter Tight"/>
                <a:ea typeface="Inter Tight"/>
                <a:cs typeface="Inter Tight"/>
                <a:sym typeface="Inter Tight"/>
              </a:rPr>
              <a:t>FINDINGS</a:t>
            </a:r>
            <a:endParaRPr/>
          </a:p>
        </p:txBody>
      </p:sp>
      <p:sp>
        <p:nvSpPr>
          <p:cNvPr id="156" name="Google Shape;156;p16"/>
          <p:cNvSpPr txBox="1"/>
          <p:nvPr/>
        </p:nvSpPr>
        <p:spPr>
          <a:xfrm>
            <a:off x="914400" y="3794760"/>
            <a:ext cx="786384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policy code is correct; the configuration is not. Every payment passes alone; the sequence does not.</a:t>
            </a:r>
            <a:endParaRPr/>
          </a:p>
        </p:txBody>
      </p:sp>
      <p:sp>
        <p:nvSpPr>
          <p:cNvPr id="157" name="Google Shape;157;p16"/>
          <p:cNvSpPr txBox="1"/>
          <p:nvPr/>
        </p:nvSpPr>
        <p:spPr>
          <a:xfrm>
            <a:off x="914400" y="4800600"/>
            <a:ext cx="7863840" cy="2697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Daily window 1 728 ledgers, not 17 280: 49 → 49 → 49 USDC (+1 / +10 / +1718) is 147 in 24 h vs a 100 cap; up to 10× a day.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No extend_ttl: “stream 0 is archived with 275 days left to run”.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Unauthenticated bump_ttl keeps a stream alive 1.3 days past its end.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 90 quiet days one withdraw_many restores 5 entries against a budget of 3.</a:t>
            </a:r>
            <a:endParaRPr/>
          </a:p>
        </p:txBody>
      </p:sp>
      <p:sp>
        <p:nvSpPr>
          <p:cNvPr id="158" name="Google Shape;158;p16"/>
          <p:cNvSpPr/>
          <p:nvPr/>
        </p:nvSpPr>
        <p:spPr>
          <a:xfrm>
            <a:off x="914400" y="7635240"/>
            <a:ext cx="7863840" cy="914400"/>
          </a:xfrm>
          <a:prstGeom prst="roundRect">
            <a:avLst>
              <a:gd fmla="val 22000" name="adj"/>
            </a:avLst>
          </a:prstGeom>
          <a:solidFill>
            <a:srgbClr val="FFFFFF"/>
          </a:solidFill>
          <a:ln cap="flat" cmpd="sng" w="3810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365750" spcFirstLastPara="1" rIns="365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Takeaway: </a:t>
            </a:r>
            <a:r>
              <a:rPr b="0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Breakwater found the three-step sequence that no single-call test can see.</a:t>
            </a:r>
            <a:endParaRPr/>
          </a:p>
        </p:txBody>
      </p:sp>
      <p:sp>
        <p:nvSpPr>
          <p:cNvPr id="165" name="Google Shape;165;p16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6" name="Google Shape;166;p16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descr="hm-black.png" id="167" name="Google Shape;16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859000" y="9171432"/>
            <a:ext cx="2517969" cy="438912"/>
          </a:xfrm>
          <a:prstGeom prst="rect">
            <a:avLst/>
          </a:prstGeom>
          <a:noFill/>
          <a:ln>
            <a:noFill/>
          </a:ln>
        </p:spPr>
      </p:pic>
      <p:pic xmlns:p="http://schemas.openxmlformats.org/presentationml/2006/main" xmlns:a="http://schemas.openxmlformats.org/drawingml/2006/main" xmlns:r="http://schemas.openxmlformats.org/officeDocument/2006/relationships">
        <p:nvPicPr>
          <p:cNvPr id="168" name="Screenshot S3-report-policy-bypass.png" descr="S3-report-policy-bypass.png"/>
          <p:cNvPicPr>
            <a:picLocks noChangeAspect="1"/>
          </p:cNvPicPr>
          <p:nvPr/>
        </p:nvPicPr>
        <p:blipFill>
          <a:blip r:embed="rId201"/>
          <a:stretch>
            <a:fillRect/>
          </a:stretch>
        </p:blipFill>
        <p:spPr>
          <a:xfrm>
            <a:off x="10097716" y="3794760"/>
            <a:ext cx="6505048" cy="4800600"/>
          </a:xfrm>
          <a:prstGeom prst="rect">
            <a:avLst/>
          </a:prstGeom>
          <a:ln w="12700">
            <a:solidFill>
              <a:srgbClr val="DFDDD6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2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6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1" name="Google Shape;151;p16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06 / 07</a:t>
            </a:r>
            <a:endParaRPr/>
          </a:p>
        </p:txBody>
      </p:sp>
      <p:sp>
        <p:nvSpPr>
          <p:cNvPr id="152" name="Google Shape;152;p16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53" name="Google Shape;153;p16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TEAM</a:t>
            </a:r>
            <a:endParaRPr/>
          </a:p>
        </p:txBody>
      </p:sp>
      <p:sp>
        <p:nvSpPr>
          <p:cNvPr id="154" name="Google Shape;154;p16"/>
          <p:cNvSpPr/>
          <p:nvPr/>
        </p:nvSpPr>
        <p:spPr>
          <a:xfrm>
            <a:off x="914400" y="1417320"/>
            <a:ext cx="2651760" cy="475488"/>
          </a:xfrm>
          <a:prstGeom prst="roundRect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0F0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PITCH STEP 05 / 06</a:t>
            </a:r>
            <a:endParaRPr/>
          </a:p>
        </p:txBody>
      </p:sp>
      <p:sp>
        <p:nvSpPr>
          <p:cNvPr id="155" name="Google Shape;155;p16"/>
          <p:cNvSpPr txBox="1"/>
          <p:nvPr/>
        </p:nvSpPr>
        <p:spPr>
          <a:xfrm>
            <a:off x="914400" y="210312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0" u="none" cap="none" strike="noStrike">
                <a:solidFill>
                  <a:srgbClr val="0F0F0F"/>
                </a:solidFill>
                <a:latin typeface="Inter Tight"/>
                <a:ea typeface="Inter Tight"/>
                <a:cs typeface="Inter Tight"/>
                <a:sym typeface="Inter Tight"/>
              </a:rPr>
              <a:t>TESTNET &amp; PROGRESS</a:t>
            </a:r>
            <a:endParaRPr/>
          </a:p>
        </p:txBody>
      </p:sp>
      <p:sp>
        <p:nvSpPr>
          <p:cNvPr id="156" name="Google Shape;156;p16"/>
          <p:cNvSpPr txBox="1"/>
          <p:nvPr/>
        </p:nvSpPr>
        <p:spPr>
          <a:xfrm>
            <a:off x="914400" y="3794760"/>
            <a:ext cx="786384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shrunk bypass replayed on Stellar Testnet through the real OpenZeppelin account.</a:t>
            </a:r>
            <a:endParaRPr/>
          </a:p>
        </p:txBody>
      </p:sp>
      <p:sp>
        <p:nvSpPr>
          <p:cNvPr id="157" name="Google Shape;157;p16"/>
          <p:cNvSpPr txBox="1"/>
          <p:nvPr/>
        </p:nvSpPr>
        <p:spPr>
          <a:xfrm>
            <a:off x="914400" y="4800600"/>
            <a:ext cx="786384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Three agent-signed payments: 147 USDC in 3 537 ledgers (about 4.9 hours), all accepted by the policies.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Seven contracts and five transactions on Testnet, each linked from the README.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Built during the event: 19 commits on main, 18 merged PRs, 43 tests, CI on every PR.</a:t>
            </a:r>
            <a:endParaRPr/>
          </a:p>
        </p:txBody>
      </p:sp>
      <p:sp>
        <p:nvSpPr>
          <p:cNvPr id="158" name="Google Shape;158;p16"/>
          <p:cNvSpPr/>
          <p:nvPr/>
        </p:nvSpPr>
        <p:spPr>
          <a:xfrm>
            <a:off x="914400" y="7269480"/>
            <a:ext cx="7863840" cy="914400"/>
          </a:xfrm>
          <a:prstGeom prst="roundRect">
            <a:avLst>
              <a:gd fmla="val 22000" name="adj"/>
            </a:avLst>
          </a:prstGeom>
          <a:solidFill>
            <a:srgbClr val="FFFFFF"/>
          </a:solidFill>
          <a:ln cap="flat" cmpd="sng" w="3810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365750" spcFirstLastPara="1" rIns="365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Reproducible: </a:t>
            </a:r>
            <a:r>
              <a:rPr b="0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Every number in this deck comes from a command anyone can rerun.</a:t>
            </a:r>
            <a:endParaRPr/>
          </a:p>
        </p:txBody>
      </p:sp>
      <p:sp>
        <p:nvSpPr>
          <p:cNvPr id="165" name="Google Shape;165;p16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6" name="Google Shape;166;p16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descr="hm-black.png" id="167" name="Google Shape;16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859000" y="9171432"/>
            <a:ext cx="2517969" cy="438912"/>
          </a:xfrm>
          <a:prstGeom prst="rect">
            <a:avLst/>
          </a:prstGeom>
          <a:noFill/>
          <a:ln>
            <a:noFill/>
          </a:ln>
        </p:spPr>
      </p:pic>
      <p:pic xmlns:p="http://schemas.openxmlformats.org/presentationml/2006/main" xmlns:a="http://schemas.openxmlformats.org/drawingml/2006/main" xmlns:r="http://schemas.openxmlformats.org/officeDocument/2006/relationships">
        <p:nvPicPr>
          <p:cNvPr id="168" name="Screenshot S5-stellar-expert-tx3.png" descr="S5-stellar-expert-tx3.png"/>
          <p:cNvPicPr>
            <a:picLocks noChangeAspect="1"/>
          </p:cNvPicPr>
          <p:nvPr/>
        </p:nvPicPr>
        <p:blipFill>
          <a:blip r:embed="rId201"/>
          <a:stretch>
            <a:fillRect/>
          </a:stretch>
        </p:blipFill>
        <p:spPr>
          <a:xfrm>
            <a:off x="10056730" y="3794760"/>
            <a:ext cx="6587021" cy="4800600"/>
          </a:xfrm>
          <a:prstGeom prst="rect">
            <a:avLst/>
          </a:prstGeom>
          <a:ln w="12700">
            <a:solidFill>
              <a:srgbClr val="DFDDD6"/>
            </a:solidFill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